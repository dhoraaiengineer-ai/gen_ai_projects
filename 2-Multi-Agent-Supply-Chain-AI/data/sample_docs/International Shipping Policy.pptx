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Owner: Global Logistics team.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Speaker notes: carriers reject undeclared UN3480 cargo; always attach the dangerous goods declaration.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International Shipping Policy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Northwind Industrial Logistics</a:t>
            </a:r>
          </a:p>
          <a:p>
            <a:r>
              <a:t>Effective date: 2026-03-01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Default Incoterms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Ocean freight from Asia uses FOB origin port.</a:t>
            </a:r>
          </a:p>
          <a:p>
            <a:r>
              <a:t>Road freight within the EU uses DAP.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Lithium Battery Shipments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Lithium battery shipments by air must be declared as UN3480 dangerous goods.</a:t>
            </a:r>
          </a:p>
          <a:p>
            <a:r>
              <a:t>Batteries shipped by air are limited to 30% state of charge.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Delay Escalation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Shipments delayed more than 3 days must be escalated to the Logistics Manager.</a:t>
            </a:r>
          </a:p>
          <a:p>
            <a:r>
              <a:t>Expedite by air only when the delay creates a critical stockout risk.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Carrier Selection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914400" y="1828800"/>
          <a:ext cx="7315200" cy="1371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657600"/>
                <a:gridCol w="3657600"/>
              </a:tblGrid>
              <a:tr h="457200">
                <a:tc>
                  <a:txBody>
                    <a:bodyPr/>
                    <a:lstStyle/>
                    <a:p>
                      <a:r>
                        <a:rPr sz="1400"/>
                        <a:t>Priority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400"/>
                        <a:t>Preferred mode</a:t>
                      </a:r>
                    </a:p>
                  </a:txBody>
                  <a:tcPr/>
                </a:tc>
              </a:tr>
              <a:tr h="457200">
                <a:tc>
                  <a:txBody>
                    <a:bodyPr/>
                    <a:lstStyle/>
                    <a:p>
                      <a:r>
                        <a:rPr sz="1400"/>
                        <a:t>Critical stockout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400"/>
                        <a:t>Air</a:t>
                      </a:r>
                    </a:p>
                  </a:txBody>
                  <a:tcPr/>
                </a:tc>
              </a:tr>
              <a:tr h="457200">
                <a:tc>
                  <a:txBody>
                    <a:bodyPr/>
                    <a:lstStyle/>
                    <a:p>
                      <a:r>
                        <a:rPr sz="1400"/>
                        <a:t>Standard replenishment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400"/>
                        <a:t>Ocean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